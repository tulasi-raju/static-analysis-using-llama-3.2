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8" r:id="rId8"/>
    <p:sldId id="262" r:id="rId9"/>
    <p:sldId id="266" r:id="rId10"/>
    <p:sldId id="267" r:id="rId11"/>
    <p:sldId id="269" r:id="rId12"/>
    <p:sldId id="265" r:id="rId13"/>
    <p:sldId id="263" r:id="rId14"/>
    <p:sldId id="264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DB1FC8D4-D481-490A-A99B-61BFBEBC2197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3ACCE332-8BB4-4B6A-8D03-E45F1C0B5B96}" type="slidenum">
              <a:rPr lang="en-IN" smtClean="0"/>
              <a:t>‹#›</a:t>
            </a:fld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8970240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FC8D4-D481-490A-A99B-61BFBEBC2197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CE332-8BB4-4B6A-8D03-E45F1C0B5B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567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FC8D4-D481-490A-A99B-61BFBEBC2197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CE332-8BB4-4B6A-8D03-E45F1C0B5B96}" type="slidenum">
              <a:rPr lang="en-IN" smtClean="0"/>
              <a:t>‹#›</a:t>
            </a:fld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146398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FC8D4-D481-490A-A99B-61BFBEBC2197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CE332-8BB4-4B6A-8D03-E45F1C0B5B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8523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FC8D4-D481-490A-A99B-61BFBEBC2197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CE332-8BB4-4B6A-8D03-E45F1C0B5B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61932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FC8D4-D481-490A-A99B-61BFBEBC2197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CE332-8BB4-4B6A-8D03-E45F1C0B5B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7323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FC8D4-D481-490A-A99B-61BFBEBC2197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CE332-8BB4-4B6A-8D03-E45F1C0B5B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61120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FC8D4-D481-490A-A99B-61BFBEBC2197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CE332-8BB4-4B6A-8D03-E45F1C0B5B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17606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FC8D4-D481-490A-A99B-61BFBEBC2197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CE332-8BB4-4B6A-8D03-E45F1C0B5B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00884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FC8D4-D481-490A-A99B-61BFBEBC2197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CE332-8BB4-4B6A-8D03-E45F1C0B5B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68382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FC8D4-D481-490A-A99B-61BFBEBC2197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CE332-8BB4-4B6A-8D03-E45F1C0B5B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51023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DB1FC8D4-D481-490A-A99B-61BFBEBC2197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3ACCE332-8BB4-4B6A-8D03-E45F1C0B5B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9569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AF38D-8272-6A2B-99B5-3330993A8A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5407" y="1476324"/>
            <a:ext cx="9871587" cy="1217714"/>
          </a:xfrm>
        </p:spPr>
        <p:txBody>
          <a:bodyPr>
            <a:normAutofit fontScale="90000"/>
          </a:bodyPr>
          <a:lstStyle/>
          <a:p>
            <a:pPr algn="ctr"/>
            <a:r>
              <a:rPr lang="en-US" sz="5400" dirty="0"/>
              <a:t>Static Analysis using Llama 3.2</a:t>
            </a:r>
            <a:endParaRPr lang="en-IN" sz="5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535B34-6B9A-3FDE-02E3-A5AB57A71D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70839" y="3429000"/>
            <a:ext cx="4316361" cy="739876"/>
          </a:xfrm>
        </p:spPr>
        <p:txBody>
          <a:bodyPr/>
          <a:lstStyle/>
          <a:p>
            <a:r>
              <a:rPr lang="en-US" dirty="0"/>
              <a:t> </a:t>
            </a:r>
            <a:r>
              <a:rPr lang="en-US" sz="2000" dirty="0"/>
              <a:t>By</a:t>
            </a:r>
            <a:r>
              <a:rPr lang="en-US" dirty="0"/>
              <a:t> Tulasi Rama Raju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042743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78121-778B-67DF-E49D-CA898BA560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83112"/>
            <a:ext cx="3035710" cy="1158875"/>
          </a:xfrm>
        </p:spPr>
        <p:txBody>
          <a:bodyPr>
            <a:normAutofit/>
          </a:bodyPr>
          <a:lstStyle/>
          <a:p>
            <a:r>
              <a:rPr lang="en-US" sz="3600" b="1" dirty="0"/>
              <a:t>Motivation</a:t>
            </a:r>
            <a:endParaRPr lang="en-IN" sz="36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4566AB-92C6-9DC7-3D42-F9F12B38F904}"/>
              </a:ext>
            </a:extLst>
          </p:cNvPr>
          <p:cNvSpPr txBox="1"/>
          <p:nvPr/>
        </p:nvSpPr>
        <p:spPr>
          <a:xfrm>
            <a:off x="838199" y="1906378"/>
            <a:ext cx="8848411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2000" dirty="0"/>
              <a:t>The classic static analysis tools use an already defined set of rules and pattern identification methods to detect vulnerabilities and code failures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sz="2000" dirty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2000" dirty="0"/>
              <a:t>leads to limited coverage of the code base when faced with higher level logic flaws. 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sz="2000" dirty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2000" dirty="0"/>
              <a:t>LLMs can enhance or complement existing static analyzers by having better performance. 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sz="2000" dirty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2000" dirty="0"/>
              <a:t>A more semantic reasoning.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3260133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4D6910-183D-AFC1-67A4-B2742536C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0A7B8-3B26-F1DA-E251-6C1AA5D96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83112"/>
            <a:ext cx="8217310" cy="990635"/>
          </a:xfrm>
        </p:spPr>
        <p:txBody>
          <a:bodyPr>
            <a:normAutofit/>
          </a:bodyPr>
          <a:lstStyle/>
          <a:p>
            <a:r>
              <a:rPr lang="en-US" sz="3600" b="1" dirty="0"/>
              <a:t>Scope of LLMs for Static Analysis</a:t>
            </a:r>
            <a:endParaRPr lang="en-IN" sz="36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B2D764-842B-B3ED-D6F6-B7D304C7DACD}"/>
              </a:ext>
            </a:extLst>
          </p:cNvPr>
          <p:cNvSpPr txBox="1"/>
          <p:nvPr/>
        </p:nvSpPr>
        <p:spPr>
          <a:xfrm>
            <a:off x="838199" y="1906378"/>
            <a:ext cx="8848411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2000" dirty="0"/>
              <a:t>We can use LLMs to understand relationships across classes, interpret intent behind logic, and flag inconsistencies quicker.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sz="2000" dirty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2000" dirty="0"/>
              <a:t>Can identify correctness problems, bad practices, performance risks, security concerns, and stylistic issues.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sz="2000" dirty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2000" dirty="0"/>
              <a:t>Can be used to produce human-readable explanations and summaries of the code. 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sz="2000" dirty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2000" dirty="0"/>
              <a:t>Generate visual and statistical reports to compare the overlapping scenarios and also the differences.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41749545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87456A-D9A4-28AB-27C7-439999694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E000C-B7F3-1380-EC08-38B5D2D94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96298"/>
            <a:ext cx="5778910" cy="1158875"/>
          </a:xfrm>
        </p:spPr>
        <p:txBody>
          <a:bodyPr>
            <a:normAutofit/>
          </a:bodyPr>
          <a:lstStyle/>
          <a:p>
            <a:r>
              <a:rPr lang="en-IN" sz="3600" b="1" dirty="0"/>
              <a:t>Used Model - Llama 3.2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025A36-D133-9E44-8BFF-B2C9F0044907}"/>
              </a:ext>
            </a:extLst>
          </p:cNvPr>
          <p:cNvSpPr txBox="1"/>
          <p:nvPr/>
        </p:nvSpPr>
        <p:spPr>
          <a:xfrm>
            <a:off x="838199" y="1906378"/>
            <a:ext cx="8848411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2000" dirty="0"/>
              <a:t>The Meta Llama 3.2 collection of multilingual large language models (LLMs) is a collection of pretrained and instruction-tuned generative models in 1B and 3B sizes. 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sz="2000" dirty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2000" dirty="0"/>
              <a:t>Optimized for multilingual dialogue use cases, including agentic retrieval and summarization tasks. 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sz="2000" dirty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2000" dirty="0"/>
              <a:t>Allows prompt rewriting and is generally faster than some of the industry standard LLMs.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sz="2000" dirty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2000" dirty="0"/>
              <a:t>Source - </a:t>
            </a:r>
            <a:r>
              <a:rPr lang="en-US" sz="2000" dirty="0" err="1"/>
              <a:t>Ollama</a:t>
            </a:r>
            <a:endParaRPr lang="en-US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B599ED-B77E-587D-D833-6AD55AB0E7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1436" y="861211"/>
            <a:ext cx="618548" cy="593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8594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CA9747-4D05-9A8F-25EF-3C94826CF7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A41FE-3A2F-6686-C1E6-A7B4656CCF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83112"/>
            <a:ext cx="8748252" cy="1158875"/>
          </a:xfrm>
        </p:spPr>
        <p:txBody>
          <a:bodyPr>
            <a:normAutofit/>
          </a:bodyPr>
          <a:lstStyle/>
          <a:p>
            <a:r>
              <a:rPr lang="en-US" sz="3600" dirty="0"/>
              <a:t>Traditional Static Analysis with </a:t>
            </a:r>
            <a:r>
              <a:rPr lang="en-US" sz="3600" dirty="0" err="1"/>
              <a:t>SpotBugs</a:t>
            </a:r>
            <a:endParaRPr lang="en-IN" sz="36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8421FE-39CA-7DC8-6378-C9AF07086F1C}"/>
              </a:ext>
            </a:extLst>
          </p:cNvPr>
          <p:cNvSpPr txBox="1"/>
          <p:nvPr/>
        </p:nvSpPr>
        <p:spPr>
          <a:xfrm>
            <a:off x="838200" y="1906378"/>
            <a:ext cx="591656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2000" dirty="0"/>
              <a:t>Examines Java bytecode and categorizes issues according to severity (rank), confidence, and type, such as correctness, performance, or bad practice. 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sz="2000" dirty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2000" dirty="0"/>
              <a:t>Produces XML and HTML reports containing all detected issues.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sz="2000" dirty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2000" dirty="0"/>
              <a:t>Does not attempt deeper reasoning about program behavior or design. 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B428346-B46F-DD99-6580-2B5AD4AD79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4762" y="1990613"/>
            <a:ext cx="4471105" cy="2693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77797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4AE413-A552-AC3E-63C1-3948EEB64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74246B-B557-F697-22A7-A7DBC95ED9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483112"/>
            <a:ext cx="7135761" cy="1158875"/>
          </a:xfrm>
        </p:spPr>
        <p:txBody>
          <a:bodyPr>
            <a:normAutofit/>
          </a:bodyPr>
          <a:lstStyle/>
          <a:p>
            <a:r>
              <a:rPr lang="en-IN" sz="3600" b="1" dirty="0"/>
              <a:t>Code Comprehension with llama 3.2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581625-28E8-8C4B-0064-447DA481A3BD}"/>
              </a:ext>
            </a:extLst>
          </p:cNvPr>
          <p:cNvSpPr txBox="1"/>
          <p:nvPr/>
        </p:nvSpPr>
        <p:spPr>
          <a:xfrm>
            <a:off x="838199" y="1997839"/>
            <a:ext cx="884841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2000" dirty="0"/>
              <a:t>Using the </a:t>
            </a:r>
            <a:r>
              <a:rPr lang="en-US" sz="2000" dirty="0" err="1"/>
              <a:t>Ollama</a:t>
            </a:r>
            <a:r>
              <a:rPr lang="en-US" sz="2000" dirty="0"/>
              <a:t> API, the system generates an HTML explanation that describes the purpose of each class, major fields, key methods, and how the components interact across the project. </a:t>
            </a:r>
          </a:p>
          <a:p>
            <a:pPr algn="just"/>
            <a:endParaRPr lang="en-US" sz="2000" dirty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2000" dirty="0"/>
              <a:t>Describes how the project works internally, clarifying responsibilities within.</a:t>
            </a:r>
          </a:p>
          <a:p>
            <a:pPr algn="just"/>
            <a:endParaRPr lang="en-US" sz="2000" dirty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2000" dirty="0"/>
              <a:t>Also supports JSON files, which can be repurposed to further development of the application.</a:t>
            </a:r>
          </a:p>
        </p:txBody>
      </p:sp>
    </p:spTree>
    <p:extLst>
      <p:ext uri="{BB962C8B-B14F-4D97-AF65-F5344CB8AC3E}">
        <p14:creationId xmlns:p14="http://schemas.microsoft.com/office/powerpoint/2010/main" val="24051007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4295FC-484D-BF02-580B-1441B71B9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94631-C1EC-6881-2405-F6B57CDE2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231" y="81155"/>
            <a:ext cx="7440563" cy="990562"/>
          </a:xfrm>
        </p:spPr>
        <p:txBody>
          <a:bodyPr>
            <a:normAutofit/>
          </a:bodyPr>
          <a:lstStyle/>
          <a:p>
            <a:r>
              <a:rPr lang="en-IN" sz="3600" b="1" dirty="0"/>
              <a:t>Code Comprehension prompts</a:t>
            </a:r>
          </a:p>
        </p:txBody>
      </p:sp>
      <p:pic>
        <p:nvPicPr>
          <p:cNvPr id="5" name="Picture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8F853D0C-108A-AC70-BD23-1FD46D74E7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721" y="1240029"/>
            <a:ext cx="5218472" cy="5243014"/>
          </a:xfrm>
          <a:prstGeom prst="rect">
            <a:avLst/>
          </a:prstGeom>
        </p:spPr>
      </p:pic>
      <p:pic>
        <p:nvPicPr>
          <p:cNvPr id="7" name="Picture 6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688E6E7D-D70D-74B2-1D9F-23F2D71F1E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8683" y="1240029"/>
            <a:ext cx="5329083" cy="5243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21561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8D9EB0-9E24-2940-D688-22813B8E65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37326-7D75-5FD6-0764-9BD90E966C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483112"/>
            <a:ext cx="7135761" cy="1158875"/>
          </a:xfrm>
        </p:spPr>
        <p:txBody>
          <a:bodyPr>
            <a:normAutofit/>
          </a:bodyPr>
          <a:lstStyle/>
          <a:p>
            <a:r>
              <a:rPr lang="en-IN" sz="3600" b="1" dirty="0"/>
              <a:t>Llama 3.2 Static Analysis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5ED3F0-6D50-369C-BE3D-9A70138A03D6}"/>
              </a:ext>
            </a:extLst>
          </p:cNvPr>
          <p:cNvSpPr txBox="1"/>
          <p:nvPr/>
        </p:nvSpPr>
        <p:spPr>
          <a:xfrm>
            <a:off x="838200" y="1906378"/>
            <a:ext cx="8974394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2000" dirty="0"/>
              <a:t>Relies on custom Python scripts that load all </a:t>
            </a:r>
            <a:r>
              <a:rPr lang="en-US" dirty="0"/>
              <a:t>.java</a:t>
            </a:r>
            <a:r>
              <a:rPr lang="en-US" sz="2000" dirty="0"/>
              <a:t> files, construct an analysis prompt, and send it to the Llama 3.2 model via </a:t>
            </a:r>
            <a:r>
              <a:rPr lang="en-US" sz="2000" dirty="0" err="1"/>
              <a:t>Ollama’s</a:t>
            </a:r>
            <a:r>
              <a:rPr lang="en-US" sz="2000" dirty="0"/>
              <a:t> local REST API. 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sz="2000" dirty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2000" dirty="0"/>
              <a:t>Returns a structured JSON list of issues, each containing the file name, line number, category, severity, short title, and detailed description.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sz="2000" dirty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2000" dirty="0"/>
              <a:t>Extremely dependent on prompts – Make or break.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sz="2000" dirty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2000" dirty="0"/>
              <a:t> Llama’s flexible reasoning capabilities help in identify logical issues, design flaws, and subtle risks that </a:t>
            </a:r>
            <a:r>
              <a:rPr lang="en-US" sz="2000" dirty="0" err="1"/>
              <a:t>SpotBugs</a:t>
            </a:r>
            <a:r>
              <a:rPr lang="en-US" sz="2000" dirty="0"/>
              <a:t> may overlook.</a:t>
            </a:r>
          </a:p>
        </p:txBody>
      </p:sp>
    </p:spTree>
    <p:extLst>
      <p:ext uri="{BB962C8B-B14F-4D97-AF65-F5344CB8AC3E}">
        <p14:creationId xmlns:p14="http://schemas.microsoft.com/office/powerpoint/2010/main" val="32487645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A5EDE1-2BA8-8E2C-1FD3-079424910D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1DD58-1F12-E283-0D22-84F0729EC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483113"/>
            <a:ext cx="3566653" cy="835742"/>
          </a:xfrm>
        </p:spPr>
        <p:txBody>
          <a:bodyPr>
            <a:normAutofit/>
          </a:bodyPr>
          <a:lstStyle/>
          <a:p>
            <a:r>
              <a:rPr lang="en-IN" sz="3600" b="1" dirty="0"/>
              <a:t>Process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C893344-5C00-539F-9AB6-3F69279151C3}"/>
              </a:ext>
            </a:extLst>
          </p:cNvPr>
          <p:cNvSpPr/>
          <p:nvPr/>
        </p:nvSpPr>
        <p:spPr>
          <a:xfrm>
            <a:off x="838198" y="1514168"/>
            <a:ext cx="3086711" cy="66859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US" dirty="0"/>
              <a:t>Locate and Load code files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20ED1CD-0FCE-6DCC-9D19-B92675F18ECF}"/>
              </a:ext>
            </a:extLst>
          </p:cNvPr>
          <p:cNvSpPr/>
          <p:nvPr/>
        </p:nvSpPr>
        <p:spPr>
          <a:xfrm>
            <a:off x="2308123" y="2442932"/>
            <a:ext cx="2600632" cy="65005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Build Proper Prompts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4CA4B01-5416-B783-E5EF-B513B8B87416}"/>
              </a:ext>
            </a:extLst>
          </p:cNvPr>
          <p:cNvSpPr/>
          <p:nvPr/>
        </p:nvSpPr>
        <p:spPr>
          <a:xfrm>
            <a:off x="3924910" y="3372260"/>
            <a:ext cx="2475889" cy="65005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Call local </a:t>
            </a:r>
            <a:r>
              <a:rPr lang="en-IN" dirty="0" err="1"/>
              <a:t>Ollama</a:t>
            </a:r>
            <a:r>
              <a:rPr lang="en-IN" dirty="0"/>
              <a:t> API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8E353F2-BA41-3FA7-CC70-52C954A67B77}"/>
              </a:ext>
            </a:extLst>
          </p:cNvPr>
          <p:cNvSpPr/>
          <p:nvPr/>
        </p:nvSpPr>
        <p:spPr>
          <a:xfrm>
            <a:off x="5725439" y="4199296"/>
            <a:ext cx="1532605" cy="66859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Llama 3.2 processing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74D08F6-462B-0A6D-6B63-C367841ACA9E}"/>
              </a:ext>
            </a:extLst>
          </p:cNvPr>
          <p:cNvSpPr/>
          <p:nvPr/>
        </p:nvSpPr>
        <p:spPr>
          <a:xfrm>
            <a:off x="6672415" y="5044869"/>
            <a:ext cx="2127456" cy="74633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Extract and Validate Json array of issues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62DB6B0-7D25-11CE-2D5E-AE25D1B69C14}"/>
              </a:ext>
            </a:extLst>
          </p:cNvPr>
          <p:cNvSpPr/>
          <p:nvPr/>
        </p:nvSpPr>
        <p:spPr>
          <a:xfrm>
            <a:off x="8477862" y="5968180"/>
            <a:ext cx="2005780" cy="61451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Save Output Files</a:t>
            </a:r>
          </a:p>
        </p:txBody>
      </p: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85826407-0F67-C68A-CD80-693B55F3FFE3}"/>
              </a:ext>
            </a:extLst>
          </p:cNvPr>
          <p:cNvCxnSpPr>
            <a:cxnSpLocks/>
            <a:endCxn id="6" idx="1"/>
          </p:cNvCxnSpPr>
          <p:nvPr/>
        </p:nvCxnSpPr>
        <p:spPr>
          <a:xfrm rot="16200000" flipH="1">
            <a:off x="1815895" y="2275732"/>
            <a:ext cx="688258" cy="29619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46635B5A-32AF-EAB7-D011-DE85189D42C4}"/>
              </a:ext>
            </a:extLst>
          </p:cNvPr>
          <p:cNvCxnSpPr>
            <a:cxnSpLocks/>
          </p:cNvCxnSpPr>
          <p:nvPr/>
        </p:nvCxnSpPr>
        <p:spPr>
          <a:xfrm>
            <a:off x="3067664" y="3088456"/>
            <a:ext cx="857245" cy="520342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397853A5-A78E-A3BD-C455-8F3BF118EA18}"/>
              </a:ext>
            </a:extLst>
          </p:cNvPr>
          <p:cNvCxnSpPr>
            <a:endCxn id="8" idx="1"/>
          </p:cNvCxnSpPr>
          <p:nvPr/>
        </p:nvCxnSpPr>
        <p:spPr>
          <a:xfrm>
            <a:off x="5094947" y="4022316"/>
            <a:ext cx="630492" cy="51127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6D5B4D4E-EDBD-1657-E1BE-C3A3C333020B}"/>
              </a:ext>
            </a:extLst>
          </p:cNvPr>
          <p:cNvCxnSpPr>
            <a:cxnSpLocks/>
            <a:endCxn id="9" idx="1"/>
          </p:cNvCxnSpPr>
          <p:nvPr/>
        </p:nvCxnSpPr>
        <p:spPr>
          <a:xfrm>
            <a:off x="6096000" y="4867889"/>
            <a:ext cx="576415" cy="55014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D8D1E024-FAB7-7930-B528-B109C7FFBACB}"/>
              </a:ext>
            </a:extLst>
          </p:cNvPr>
          <p:cNvCxnSpPr>
            <a:endCxn id="10" idx="1"/>
          </p:cNvCxnSpPr>
          <p:nvPr/>
        </p:nvCxnSpPr>
        <p:spPr>
          <a:xfrm>
            <a:off x="7573292" y="5791200"/>
            <a:ext cx="904570" cy="48423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03704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43675F-D113-6163-05FE-7CF9795FD0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2AC89-812E-1DBA-D055-C7F6637C0D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902" y="289581"/>
            <a:ext cx="7135761" cy="919787"/>
          </a:xfrm>
        </p:spPr>
        <p:txBody>
          <a:bodyPr>
            <a:normAutofit/>
          </a:bodyPr>
          <a:lstStyle/>
          <a:p>
            <a:r>
              <a:rPr lang="en-IN" sz="3600" b="1" dirty="0"/>
              <a:t>Prompts</a:t>
            </a:r>
          </a:p>
        </p:txBody>
      </p:sp>
      <p:pic>
        <p:nvPicPr>
          <p:cNvPr id="6" name="Picture 5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43402EBC-AF2D-A5AB-223B-AA289A94B8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987" y="1209368"/>
            <a:ext cx="5464013" cy="5197290"/>
          </a:xfrm>
          <a:prstGeom prst="rect">
            <a:avLst/>
          </a:prstGeom>
        </p:spPr>
      </p:pic>
      <p:pic>
        <p:nvPicPr>
          <p:cNvPr id="10" name="Picture 9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885B90FD-08DA-85A4-3F85-6A35343DC8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4085" y="1209368"/>
            <a:ext cx="5514617" cy="5197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29802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9BE3CA-0373-C414-840C-6831D3670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174FD-CBE2-9FFF-D434-D020A2C97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902" y="289581"/>
            <a:ext cx="7135761" cy="919787"/>
          </a:xfrm>
        </p:spPr>
        <p:txBody>
          <a:bodyPr>
            <a:normAutofit/>
          </a:bodyPr>
          <a:lstStyle/>
          <a:p>
            <a:r>
              <a:rPr lang="en-IN" sz="3600" b="1" dirty="0"/>
              <a:t>Evaluation</a:t>
            </a:r>
          </a:p>
        </p:txBody>
      </p:sp>
      <p:pic>
        <p:nvPicPr>
          <p:cNvPr id="4" name="Picture 3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A4AA3AE0-D7C8-686D-CB10-50B480AFD2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1161" y="1360736"/>
            <a:ext cx="7775931" cy="4872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03684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7524CF-71F9-9A8F-8C28-E388E4D8FB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55AE8-81BE-ADB7-E932-8340A946B5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483112"/>
            <a:ext cx="7135761" cy="1158875"/>
          </a:xfrm>
        </p:spPr>
        <p:txBody>
          <a:bodyPr>
            <a:normAutofit/>
          </a:bodyPr>
          <a:lstStyle/>
          <a:p>
            <a:r>
              <a:rPr lang="en-IN" sz="3600" b="1" dirty="0"/>
              <a:t>Problems…………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5E3BFC-71E3-D88B-64CD-BBF3458D2BDE}"/>
              </a:ext>
            </a:extLst>
          </p:cNvPr>
          <p:cNvSpPr txBox="1"/>
          <p:nvPr/>
        </p:nvSpPr>
        <p:spPr>
          <a:xfrm>
            <a:off x="838199" y="1641987"/>
            <a:ext cx="839429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sz="2000" dirty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2000" dirty="0"/>
              <a:t>Completely prompt dependent 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sz="2000" dirty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2000" dirty="0"/>
              <a:t>LLM outputs are inherently probabilistic, meaning the model may generate false positives.</a:t>
            </a:r>
          </a:p>
          <a:p>
            <a:pPr algn="just"/>
            <a:endParaRPr lang="en-US" sz="2000" dirty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2000" dirty="0"/>
              <a:t>Produce inconsistent results when given the same prompt multiple times. 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sz="2000" dirty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2000" dirty="0"/>
              <a:t>Output quality may vary depending on available computing power and hardware.</a:t>
            </a:r>
          </a:p>
          <a:p>
            <a:pPr algn="just"/>
            <a:endParaRPr lang="en-US" sz="2000" dirty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2000" dirty="0"/>
              <a:t> Larger code bases mean there is no guarantee of complete code coverage.</a:t>
            </a:r>
          </a:p>
        </p:txBody>
      </p:sp>
    </p:spTree>
    <p:extLst>
      <p:ext uri="{BB962C8B-B14F-4D97-AF65-F5344CB8AC3E}">
        <p14:creationId xmlns:p14="http://schemas.microsoft.com/office/powerpoint/2010/main" val="15267466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37EAD1-F283-FFC4-6E71-4B6EC366E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BBDBC-92F0-5843-4DBF-68F3F49FF6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483112"/>
            <a:ext cx="7135761" cy="1158875"/>
          </a:xfrm>
        </p:spPr>
        <p:txBody>
          <a:bodyPr>
            <a:normAutofit/>
          </a:bodyPr>
          <a:lstStyle/>
          <a:p>
            <a:r>
              <a:rPr lang="en-IN" sz="3600" b="1" dirty="0"/>
              <a:t>Future Scope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4A700B-9E40-CBFE-420E-85CA4CC0B96F}"/>
              </a:ext>
            </a:extLst>
          </p:cNvPr>
          <p:cNvSpPr txBox="1"/>
          <p:nvPr/>
        </p:nvSpPr>
        <p:spPr>
          <a:xfrm>
            <a:off x="838200" y="1906378"/>
            <a:ext cx="8974394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2000" dirty="0"/>
              <a:t>Better model with better computing power yields better results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sz="2000" dirty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2000" dirty="0"/>
              <a:t>Can quantify how these approaches complement each other by measuring overlaps, differences, precision, and recall of detected issues. 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sz="2000" dirty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2000" dirty="0"/>
              <a:t>Potential opportunity to create hybrid pipelines where LLMs post-process or refine traditional static analysis reports, generating more actionable developer guidance. 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sz="2000" dirty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2000" dirty="0"/>
              <a:t>Can optimize prompts to generate complete documentation of the bugs.</a:t>
            </a:r>
          </a:p>
        </p:txBody>
      </p:sp>
    </p:spTree>
    <p:extLst>
      <p:ext uri="{BB962C8B-B14F-4D97-AF65-F5344CB8AC3E}">
        <p14:creationId xmlns:p14="http://schemas.microsoft.com/office/powerpoint/2010/main" val="36354231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4AAE24-496A-C3F3-9DD9-CA571C071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6A67D-D6B4-D50A-5285-7958C985CC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483112"/>
            <a:ext cx="7135761" cy="1158875"/>
          </a:xfrm>
        </p:spPr>
        <p:txBody>
          <a:bodyPr>
            <a:normAutofit/>
          </a:bodyPr>
          <a:lstStyle/>
          <a:p>
            <a:r>
              <a:rPr lang="en-IN" sz="3600" b="1" dirty="0"/>
              <a:t>Conclusions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D79E50-155E-F745-2AA8-7DA6B3EE2BF2}"/>
              </a:ext>
            </a:extLst>
          </p:cNvPr>
          <p:cNvSpPr txBox="1"/>
          <p:nvPr/>
        </p:nvSpPr>
        <p:spPr>
          <a:xfrm>
            <a:off x="838200" y="1906378"/>
            <a:ext cx="8974394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2000" dirty="0"/>
              <a:t>LLMs introduce contextual reasoning.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sz="2000" dirty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2000" dirty="0"/>
              <a:t>Stronger models can detect subtle and architectural defects.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sz="2000" dirty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2000" dirty="0"/>
              <a:t>Can attain an overall better understanding of the code with the help of quick and simple code summarization.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sz="2000" dirty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2000" dirty="0"/>
              <a:t>Can optimize prompts to generate complete documentation of the bugs.</a:t>
            </a:r>
          </a:p>
        </p:txBody>
      </p:sp>
    </p:spTree>
    <p:extLst>
      <p:ext uri="{BB962C8B-B14F-4D97-AF65-F5344CB8AC3E}">
        <p14:creationId xmlns:p14="http://schemas.microsoft.com/office/powerpoint/2010/main" val="4136612231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View</Template>
  <TotalTime>190</TotalTime>
  <Words>615</Words>
  <Application>Microsoft Office PowerPoint</Application>
  <PresentationFormat>Widescreen</PresentationFormat>
  <Paragraphs>83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Century Schoolbook</vt:lpstr>
      <vt:lpstr>Wingdings</vt:lpstr>
      <vt:lpstr>Wingdings 2</vt:lpstr>
      <vt:lpstr>View</vt:lpstr>
      <vt:lpstr>Static Analysis using Llama 3.2</vt:lpstr>
      <vt:lpstr>Motivation</vt:lpstr>
      <vt:lpstr>Scope of LLMs for Static Analysis</vt:lpstr>
      <vt:lpstr>Used Model - Llama 3.2</vt:lpstr>
      <vt:lpstr>Traditional Static Analysis with SpotBugs</vt:lpstr>
      <vt:lpstr>Code Comprehension with llama 3.2</vt:lpstr>
      <vt:lpstr>Code Comprehension prompts</vt:lpstr>
      <vt:lpstr>Llama 3.2 Static Analysis</vt:lpstr>
      <vt:lpstr>Process</vt:lpstr>
      <vt:lpstr>Prompts</vt:lpstr>
      <vt:lpstr>Evaluation</vt:lpstr>
      <vt:lpstr>Problems…………</vt:lpstr>
      <vt:lpstr>Future Scope</vt:lpstr>
      <vt:lpstr>Conclusions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Vignesh Raju</dc:creator>
  <cp:lastModifiedBy>Vignesh Raju</cp:lastModifiedBy>
  <cp:revision>18</cp:revision>
  <dcterms:created xsi:type="dcterms:W3CDTF">2025-12-09T18:49:39Z</dcterms:created>
  <dcterms:modified xsi:type="dcterms:W3CDTF">2025-12-09T22:00:13Z</dcterms:modified>
</cp:coreProperties>
</file>